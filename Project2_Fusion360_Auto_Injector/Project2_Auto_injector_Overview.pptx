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8" r:id="rId5"/>
    <p:sldId id="263" r:id="rId6"/>
    <p:sldId id="264" r:id="rId7"/>
    <p:sldId id="265" r:id="rId8"/>
    <p:sldId id="269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F9D93-9B0E-4E18-9D94-DE39BA1B475E}" v="114" dt="2025-06-05T16:34:11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88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Chen" userId="ad652ca3-8ddd-474a-8ac5-da1049da0a80" providerId="ADAL" clId="{3D019B72-3954-4597-BFD2-F0F02EBD1F4C}"/>
    <pc:docChg chg="modSld">
      <pc:chgData name="Jason Chen" userId="ad652ca3-8ddd-474a-8ac5-da1049da0a80" providerId="ADAL" clId="{3D019B72-3954-4597-BFD2-F0F02EBD1F4C}" dt="2025-06-05T17:59:02.572" v="32" actId="20577"/>
      <pc:docMkLst>
        <pc:docMk/>
      </pc:docMkLst>
      <pc:sldChg chg="modSp mod">
        <pc:chgData name="Jason Chen" userId="ad652ca3-8ddd-474a-8ac5-da1049da0a80" providerId="ADAL" clId="{3D019B72-3954-4597-BFD2-F0F02EBD1F4C}" dt="2025-06-05T17:14:01.369" v="30" actId="20577"/>
        <pc:sldMkLst>
          <pc:docMk/>
          <pc:sldMk cId="2587340197" sldId="257"/>
        </pc:sldMkLst>
        <pc:spChg chg="mod">
          <ac:chgData name="Jason Chen" userId="ad652ca3-8ddd-474a-8ac5-da1049da0a80" providerId="ADAL" clId="{3D019B72-3954-4597-BFD2-F0F02EBD1F4C}" dt="2025-06-05T17:14:01.369" v="30" actId="20577"/>
          <ac:spMkLst>
            <pc:docMk/>
            <pc:sldMk cId="2587340197" sldId="257"/>
            <ac:spMk id="3" creationId="{616AF4BA-6CC7-9956-297C-5F513443E054}"/>
          </ac:spMkLst>
        </pc:spChg>
      </pc:sldChg>
      <pc:sldChg chg="modSp mod">
        <pc:chgData name="Jason Chen" userId="ad652ca3-8ddd-474a-8ac5-da1049da0a80" providerId="ADAL" clId="{3D019B72-3954-4597-BFD2-F0F02EBD1F4C}" dt="2025-06-05T17:59:02.572" v="32" actId="20577"/>
        <pc:sldMkLst>
          <pc:docMk/>
          <pc:sldMk cId="1036260596" sldId="267"/>
        </pc:sldMkLst>
        <pc:spChg chg="mod">
          <ac:chgData name="Jason Chen" userId="ad652ca3-8ddd-474a-8ac5-da1049da0a80" providerId="ADAL" clId="{3D019B72-3954-4597-BFD2-F0F02EBD1F4C}" dt="2025-06-05T17:59:02.572" v="32" actId="20577"/>
          <ac:spMkLst>
            <pc:docMk/>
            <pc:sldMk cId="1036260596" sldId="267"/>
            <ac:spMk id="22" creationId="{E4DC9978-8087-0E36-3114-F7D5955E41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FCF33-6F51-4DF8-BED0-FF45AC77114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43DA2-FAFB-46E6-B732-F33633B65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1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43DA2-FAFB-46E6-B732-F33633B65D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45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43DA2-FAFB-46E6-B732-F33633B65D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52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43DA2-FAFB-46E6-B732-F33633B65D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5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5E54-0ED4-6FC1-85D5-E4A9C1DBF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7FF1E-53F2-8BCD-63F9-DDD8D90A8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434C4-2478-C14B-F813-D60AB281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FF2F9-D01C-D761-F322-579F5EAF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5F534-89F4-B0C3-F635-22157A97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20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37CC-38AA-9F7A-598D-C866C466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00C4-B385-E40F-B55D-27DA9621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35410-CAEE-5D3A-6858-97865B6E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0112-51E1-6500-ABEF-3717796F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F0344-C342-9EAF-0E47-EA1E51DD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A805-C758-52D7-50AE-AB9CAEBBE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CE218-A925-F2B6-D573-5F99914F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23199-128F-9EDC-4222-2DC6D847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D8653-BEF3-2957-40FC-0C6C158A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2746-48B7-9591-D3F8-A75D20A7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7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9E54-45E2-B7DB-9F93-FFFE7DD3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F2F4F-6073-C610-1146-5F643C462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F047A-AD6E-0AA0-B40B-CBEA94F21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D6A7-F932-FA0A-7270-4DA7696A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82DCB-4891-5E6F-37C8-294B67C3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DA9F9-6DAA-BEDF-B793-89CE1640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D559-2173-C9B1-2836-02BA814E5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BBC4-FAD3-9E65-D292-F00F0D7C2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451A0-9AFE-DE83-1719-110C6B58F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0ADF4-1E18-10DB-55E4-17499E6B1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2755A-3618-010B-59D3-1A65D0FE3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B8D80-767F-0682-4683-4B69AED2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DBF91-F7AE-5F0C-436C-E75E6633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4B49F-5554-6957-2028-9D2C1640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8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D0EC-2DBA-B2ED-6A3C-EC00B8E1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A56078-77CA-B83E-CCAA-1B127D63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B7BF2-323F-C281-840E-10E2A796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9A35C-7F82-DAC7-10F3-F03A27D0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3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8FF0A-C15A-CE7C-2A04-CC271763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95533-5009-E4CE-5C2C-4D34D651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9771F-B1BA-BD71-DF5F-3C023582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8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6706-D124-BA9C-89B8-A5C26C847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7CC4B-EDA6-95F8-78FB-E72D82B86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699D0-FED1-F6DD-097C-2BD5437FC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02159-3998-5B8D-CCA8-74419F08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F5BFF-A198-3403-FB47-1D105746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88EFA-41D3-E20E-4318-97023803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3183-606C-DEC9-4EC2-AFE70EEC8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6171B-8921-B50B-DF2B-F45E01205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3743-29C6-8C56-234E-13DD12033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FE105-3132-E6C5-5BD7-9D1AEDE4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9CCCE-CC56-5795-23F0-F40EF54E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9E72E-A62D-A06D-E63E-6891EADC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0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02D2-82E4-9457-9A70-9336551C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4DBF7-D0FE-9AAD-911B-E38DF9AB3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37356-4AF2-AABC-4BD7-FDD1AFB3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289C4-D7F0-2719-8037-000F05D2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B802B-E1BA-B696-6214-CC2767B5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1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080FE-FD62-BBA7-CB82-B3AAD2D16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7FBC0-FE43-E962-74E1-F90249A28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C853-B6B2-6815-0B76-470216FD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CC6C-E574-9EA1-893C-A75F9F98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741D-75F4-A813-C5AD-9B99839E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0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4C47FE-EF67-A6CE-ADA7-7688DC27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8E23-91C2-7846-50DD-CEE7420DF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72FA-5720-1C06-B642-06F127EA8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DCDF2-F27D-4872-84BC-117D60482B7F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3DD83-84FF-7F33-38E1-345AE6D3A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6511-7F99-1E5A-510B-F790E3B08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3C423-D185-4C91-AC6B-6139705AB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0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5U2bXRMWUQ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hBL63I0U1M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9B40-9216-CEF7-4B8A-569CBA313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Auto-injector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5A198-201E-EA4A-D2C4-058CB810A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E. Fischell Institute for Biomedical Devices</a:t>
            </a:r>
          </a:p>
          <a:p>
            <a:r>
              <a:rPr lang="en-US" dirty="0"/>
              <a:t>Mueller Lab</a:t>
            </a:r>
          </a:p>
          <a:p>
            <a:r>
              <a:rPr lang="en-US" dirty="0"/>
              <a:t>CAD models by David Garvey and Jason Chen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4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AE6C-80FB-DE34-1D99-26391280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F4BA-6CC7-9956-297C-5F513443E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Auto-injector is a device that:</a:t>
            </a:r>
          </a:p>
          <a:p>
            <a:pPr lvl="1"/>
            <a:r>
              <a:rPr lang="en-US" dirty="0"/>
              <a:t>Delivers three simultaneous deposits of ethyl cellulose ethanol (ECE)—a therapeutic developed by the Mueller Lab</a:t>
            </a:r>
          </a:p>
          <a:p>
            <a:pPr lvl="1"/>
            <a:r>
              <a:rPr lang="en-US" dirty="0"/>
              <a:t>Relies solely on pressurized air and spring mechanisms</a:t>
            </a:r>
          </a:p>
          <a:p>
            <a:pPr lvl="1"/>
            <a:r>
              <a:rPr lang="en-US" dirty="0"/>
              <a:t>Expels viscous ECE solution in a timely manner</a:t>
            </a:r>
          </a:p>
          <a:p>
            <a:pPr lvl="1"/>
            <a:r>
              <a:rPr lang="en-US" dirty="0"/>
              <a:t>Retracts its needles to </a:t>
            </a:r>
            <a:r>
              <a:rPr lang="en-US"/>
              <a:t>prevent injury</a:t>
            </a:r>
            <a:endParaRPr lang="en-US" dirty="0"/>
          </a:p>
          <a:p>
            <a:r>
              <a:rPr lang="en-US" dirty="0"/>
              <a:t>The device must also be:</a:t>
            </a:r>
          </a:p>
          <a:p>
            <a:pPr lvl="1"/>
            <a:r>
              <a:rPr lang="en-US" dirty="0"/>
              <a:t>Easy to use and repair</a:t>
            </a:r>
          </a:p>
          <a:p>
            <a:pPr lvl="1"/>
            <a:r>
              <a:rPr lang="en-US" dirty="0"/>
              <a:t>Compatible with a speculum</a:t>
            </a:r>
          </a:p>
          <a:p>
            <a:pPr lvl="1"/>
            <a:r>
              <a:rPr lang="en-US" dirty="0"/>
              <a:t>Reusable and low-cost</a:t>
            </a:r>
          </a:p>
        </p:txBody>
      </p:sp>
    </p:spTree>
    <p:extLst>
      <p:ext uri="{BB962C8B-B14F-4D97-AF65-F5344CB8AC3E}">
        <p14:creationId xmlns:p14="http://schemas.microsoft.com/office/powerpoint/2010/main" val="258734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08D2-6793-46E3-EED1-BBF4C26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Auto-injector Prototype</a:t>
            </a:r>
          </a:p>
        </p:txBody>
      </p:sp>
      <p:pic>
        <p:nvPicPr>
          <p:cNvPr id="13" name="Content Placeholder 12" descr="A black plastic object with a wire attached to it&#10;&#10;AI-generated content may be incorrect.">
            <a:extLst>
              <a:ext uri="{FF2B5EF4-FFF2-40B4-BE49-F238E27FC236}">
                <a16:creationId xmlns:a16="http://schemas.microsoft.com/office/drawing/2014/main" id="{EE2B1C71-1C85-D82E-226B-B7CBA5A04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30"/>
          <a:stretch>
            <a:fillRect/>
          </a:stretch>
        </p:blipFill>
        <p:spPr>
          <a:xfrm>
            <a:off x="2549235" y="3516810"/>
            <a:ext cx="9580081" cy="3279330"/>
          </a:xfrm>
        </p:spPr>
      </p:pic>
      <p:pic>
        <p:nvPicPr>
          <p:cNvPr id="17" name="Picture 16" descr="A white object with black handle&#10;&#10;AI-generated content may be incorrect.">
            <a:extLst>
              <a:ext uri="{FF2B5EF4-FFF2-40B4-BE49-F238E27FC236}">
                <a16:creationId xmlns:a16="http://schemas.microsoft.com/office/drawing/2014/main" id="{A327981F-EB1D-9B49-A25A-89179EED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3525" y="478140"/>
            <a:ext cx="11777325" cy="47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5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3923-98F0-6723-62EC-1EC5BFCF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6DFC-3028-029D-9E15-E9154E7F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Auto-injector Prototype</a:t>
            </a:r>
          </a:p>
        </p:txBody>
      </p:sp>
      <p:pic>
        <p:nvPicPr>
          <p:cNvPr id="8" name="Picture 7" descr="A black and blue plastic parts&#10;&#10;AI-generated content may be incorrect.">
            <a:extLst>
              <a:ext uri="{FF2B5EF4-FFF2-40B4-BE49-F238E27FC236}">
                <a16:creationId xmlns:a16="http://schemas.microsoft.com/office/drawing/2014/main" id="{B08092DF-8F07-1FC8-25B8-801B21304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19"/>
          <a:stretch>
            <a:fillRect/>
          </a:stretch>
        </p:blipFill>
        <p:spPr>
          <a:xfrm rot="5400000">
            <a:off x="889160" y="868774"/>
            <a:ext cx="4710114" cy="6353943"/>
          </a:xfrm>
          <a:prstGeom prst="rect">
            <a:avLst/>
          </a:prstGeom>
        </p:spPr>
      </p:pic>
      <p:pic>
        <p:nvPicPr>
          <p:cNvPr id="12" name="Picture 11" descr="A blue and green plastic toy&#10;&#10;AI-generated content may be incorrect.">
            <a:extLst>
              <a:ext uri="{FF2B5EF4-FFF2-40B4-BE49-F238E27FC236}">
                <a16:creationId xmlns:a16="http://schemas.microsoft.com/office/drawing/2014/main" id="{860C146E-FE5E-8A93-5FF7-57BF5AF3A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164" y="59949"/>
            <a:ext cx="5643419" cy="674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57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7C3-3430-1F7F-CDAB-0CE90DDF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Exploded Assembly Animation</a:t>
            </a:r>
          </a:p>
        </p:txBody>
      </p:sp>
      <p:pic>
        <p:nvPicPr>
          <p:cNvPr id="6" name="Online Media 5" title="auto injector rev D v13 exploding reupload">
            <a:hlinkClick r:id="" action="ppaction://media"/>
            <a:extLst>
              <a:ext uri="{FF2B5EF4-FFF2-40B4-BE49-F238E27FC236}">
                <a16:creationId xmlns:a16="http://schemas.microsoft.com/office/drawing/2014/main" id="{60ADD359-790C-8265-B621-1AA6184A4AC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94419" y="1300367"/>
            <a:ext cx="9803161" cy="55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0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1FC6-1DC0-62AE-7250-7BC350D8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Triple-needle Sub-assembly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1C1C6-A375-9730-4DFD-9588FE5E7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32" b="28928"/>
          <a:stretch/>
        </p:blipFill>
        <p:spPr>
          <a:xfrm>
            <a:off x="838200" y="3038764"/>
            <a:ext cx="10515600" cy="2749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362668-8313-D927-A90A-B1EA4D559DBC}"/>
              </a:ext>
            </a:extLst>
          </p:cNvPr>
          <p:cNvSpPr txBox="1"/>
          <p:nvPr/>
        </p:nvSpPr>
        <p:spPr>
          <a:xfrm>
            <a:off x="1428613" y="5416569"/>
            <a:ext cx="163483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Syringe tip with female Luer 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95E8B-86BE-40E2-CCD4-884C9F8D457F}"/>
              </a:ext>
            </a:extLst>
          </p:cNvPr>
          <p:cNvSpPr txBox="1"/>
          <p:nvPr/>
        </p:nvSpPr>
        <p:spPr>
          <a:xfrm>
            <a:off x="2277563" y="1903061"/>
            <a:ext cx="196156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Male Luer adapter with spin lock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5348C1-0C3F-E813-3305-AFD6739CE07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258345" y="2826391"/>
            <a:ext cx="0" cy="544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204C0A-87C1-39F8-7F43-65FB5DA6BF9B}"/>
              </a:ext>
            </a:extLst>
          </p:cNvPr>
          <p:cNvCxnSpPr>
            <a:cxnSpLocks/>
          </p:cNvCxnSpPr>
          <p:nvPr/>
        </p:nvCxnSpPr>
        <p:spPr>
          <a:xfrm flipV="1">
            <a:off x="2251444" y="3943927"/>
            <a:ext cx="23078" cy="14471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423EE0-DC1C-AB71-1BF2-04C8D08C7457}"/>
              </a:ext>
            </a:extLst>
          </p:cNvPr>
          <p:cNvSpPr txBox="1"/>
          <p:nvPr/>
        </p:nvSpPr>
        <p:spPr>
          <a:xfrm>
            <a:off x="5911274" y="5419157"/>
            <a:ext cx="16348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1/8” ID tubing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784B15-3B14-013E-5793-38FC5A24B498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728690" y="4147127"/>
            <a:ext cx="0" cy="1272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0BB85C-8F89-9437-0EAB-E9795BFA9194}"/>
              </a:ext>
            </a:extLst>
          </p:cNvPr>
          <p:cNvSpPr txBox="1"/>
          <p:nvPr/>
        </p:nvSpPr>
        <p:spPr>
          <a:xfrm>
            <a:off x="7815121" y="5419157"/>
            <a:ext cx="16348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3mm brass rod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358AEB-A309-4077-0B4D-3368AEFE6AD3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8632537" y="3851564"/>
            <a:ext cx="0" cy="15675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96F85A7-504A-A362-2F97-6E6CAD82FE40}"/>
              </a:ext>
            </a:extLst>
          </p:cNvPr>
          <p:cNvSpPr txBox="1"/>
          <p:nvPr/>
        </p:nvSpPr>
        <p:spPr>
          <a:xfrm>
            <a:off x="8225978" y="2087727"/>
            <a:ext cx="19615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Groove for twist-on needle cover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0DEF32-E3E9-D281-C6AE-2C2A7D3706BA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06760" y="2734058"/>
            <a:ext cx="0" cy="637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906C99-241B-0B95-5A74-639C2B1DEA0C}"/>
              </a:ext>
            </a:extLst>
          </p:cNvPr>
          <p:cNvSpPr txBox="1"/>
          <p:nvPr/>
        </p:nvSpPr>
        <p:spPr>
          <a:xfrm>
            <a:off x="3828479" y="5416569"/>
            <a:ext cx="16348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Adhesive applied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05ECD2-F18E-6748-2FA9-1257DFCA3CCB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3870031" y="4105275"/>
            <a:ext cx="775864" cy="1311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5BCE5F-BBB0-C739-9FF4-A6E775C5E20A}"/>
              </a:ext>
            </a:extLst>
          </p:cNvPr>
          <p:cNvCxnSpPr>
            <a:cxnSpLocks/>
          </p:cNvCxnSpPr>
          <p:nvPr/>
        </p:nvCxnSpPr>
        <p:spPr>
          <a:xfrm flipH="1" flipV="1">
            <a:off x="4423637" y="4105275"/>
            <a:ext cx="222258" cy="1311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81882C-4B3F-D4CA-5481-772579D17D91}"/>
              </a:ext>
            </a:extLst>
          </p:cNvPr>
          <p:cNvCxnSpPr>
            <a:cxnSpLocks/>
          </p:cNvCxnSpPr>
          <p:nvPr/>
        </p:nvCxnSpPr>
        <p:spPr>
          <a:xfrm flipV="1">
            <a:off x="4645895" y="4014788"/>
            <a:ext cx="821742" cy="1401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E687F03-F41D-36C8-CECD-3D7BDB0D13E5}"/>
              </a:ext>
            </a:extLst>
          </p:cNvPr>
          <p:cNvSpPr txBox="1"/>
          <p:nvPr/>
        </p:nvSpPr>
        <p:spPr>
          <a:xfrm>
            <a:off x="4087520" y="2100514"/>
            <a:ext cx="11167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Hose barb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8834E45-8239-5BB3-8163-49A15ACAFC75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4645895" y="2746845"/>
            <a:ext cx="0" cy="994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9F3E8A9-6639-56C8-8FB6-74514FE165C6}"/>
              </a:ext>
            </a:extLst>
          </p:cNvPr>
          <p:cNvSpPr txBox="1"/>
          <p:nvPr/>
        </p:nvSpPr>
        <p:spPr>
          <a:xfrm>
            <a:off x="10377637" y="5416569"/>
            <a:ext cx="94786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Hose barb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0BC962C-A548-BD2B-18D5-4B0C213DB2C9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10851571" y="4671060"/>
            <a:ext cx="0" cy="7455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6C49100-B646-31DF-CCF1-D03D2125263C}"/>
              </a:ext>
            </a:extLst>
          </p:cNvPr>
          <p:cNvSpPr txBox="1"/>
          <p:nvPr/>
        </p:nvSpPr>
        <p:spPr>
          <a:xfrm>
            <a:off x="5062454" y="1892758"/>
            <a:ext cx="137505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Embedded threaded insert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5DCF83E-DB3E-D774-1546-0049D2FE0DD6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5749980" y="2816088"/>
            <a:ext cx="0" cy="925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 descr="A close-up of an object&#10;&#10;AI-generated content may be incorrect.">
            <a:extLst>
              <a:ext uri="{FF2B5EF4-FFF2-40B4-BE49-F238E27FC236}">
                <a16:creationId xmlns:a16="http://schemas.microsoft.com/office/drawing/2014/main" id="{FC20F9BA-B25B-6AA0-4670-32EB2E54C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82" y="1530391"/>
            <a:ext cx="8093930" cy="455283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2A328-F5B3-C626-3B34-93BAB0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Retraction Sub-assembly and Motion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06C8A-DB51-0008-E998-7E0C6FD7BBFE}"/>
              </a:ext>
            </a:extLst>
          </p:cNvPr>
          <p:cNvSpPr txBox="1"/>
          <p:nvPr/>
        </p:nvSpPr>
        <p:spPr>
          <a:xfrm>
            <a:off x="4821516" y="1574813"/>
            <a:ext cx="16898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Spring-driven latch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491F1E-8145-54F6-B51B-DA2063AC43C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66460" y="2221144"/>
            <a:ext cx="0" cy="1632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ABD16C-030D-2208-8C8A-D6D375372F13}"/>
              </a:ext>
            </a:extLst>
          </p:cNvPr>
          <p:cNvSpPr txBox="1"/>
          <p:nvPr/>
        </p:nvSpPr>
        <p:spPr>
          <a:xfrm>
            <a:off x="2161309" y="1572436"/>
            <a:ext cx="257731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Spring joint minimizes lateral deflection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CBD896-517B-D1EB-ED12-570196FA463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449965" y="2218767"/>
            <a:ext cx="458103" cy="940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A211CF-881D-017C-80DF-3D4703381766}"/>
              </a:ext>
            </a:extLst>
          </p:cNvPr>
          <p:cNvSpPr txBox="1"/>
          <p:nvPr/>
        </p:nvSpPr>
        <p:spPr>
          <a:xfrm>
            <a:off x="7597200" y="1572436"/>
            <a:ext cx="15039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Spring-driven latch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F38EF5-F27A-8944-10A4-B65A868246B7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349172" y="2218767"/>
            <a:ext cx="0" cy="1845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5A16F1B-A560-D4E4-C74F-1CFF87C42AF9}"/>
              </a:ext>
            </a:extLst>
          </p:cNvPr>
          <p:cNvSpPr txBox="1"/>
          <p:nvPr/>
        </p:nvSpPr>
        <p:spPr>
          <a:xfrm>
            <a:off x="4507350" y="5100898"/>
            <a:ext cx="16898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Alignment ribs 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31CAFEA-E8D0-F832-49FB-15E55294FA99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4645649" y="4184073"/>
            <a:ext cx="706645" cy="916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1FC91A-056A-917C-2770-96455A09668D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5352294" y="4184073"/>
            <a:ext cx="743706" cy="916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D1F798D-ECD4-5018-A00B-F300582D045C}"/>
              </a:ext>
            </a:extLst>
          </p:cNvPr>
          <p:cNvSpPr txBox="1"/>
          <p:nvPr/>
        </p:nvSpPr>
        <p:spPr>
          <a:xfrm>
            <a:off x="4294908" y="6175590"/>
            <a:ext cx="21151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Alignment pins (right one hidden)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2FEC413-AEE4-41A2-B431-A93A0F129385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2942070" y="4064000"/>
            <a:ext cx="2410402" cy="21115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EC41225-9488-6D0F-8CA7-EB998C6170C3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5352472" y="3980873"/>
            <a:ext cx="2406073" cy="2194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BB37231-BB16-63AA-1EE2-20A01B341950}"/>
              </a:ext>
            </a:extLst>
          </p:cNvPr>
          <p:cNvSpPr txBox="1"/>
          <p:nvPr/>
        </p:nvSpPr>
        <p:spPr>
          <a:xfrm>
            <a:off x="1524000" y="6153580"/>
            <a:ext cx="277090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Syringe barrel is secured via a friction fit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D7CB748-C5F0-C8E0-522C-63AC3FF030CE}"/>
              </a:ext>
            </a:extLst>
          </p:cNvPr>
          <p:cNvCxnSpPr>
            <a:cxnSpLocks/>
            <a:stCxn id="91" idx="0"/>
          </p:cNvCxnSpPr>
          <p:nvPr/>
        </p:nvCxnSpPr>
        <p:spPr>
          <a:xfrm flipV="1">
            <a:off x="2909454" y="5883564"/>
            <a:ext cx="0" cy="27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20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837E-F454-EC83-263D-AB38B635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Spring-driven Retraction</a:t>
            </a:r>
          </a:p>
        </p:txBody>
      </p:sp>
      <p:pic>
        <p:nvPicPr>
          <p:cNvPr id="4" name="Online Media 3" title="Retraction Mechanism">
            <a:hlinkClick r:id="" action="ppaction://media"/>
            <a:extLst>
              <a:ext uri="{FF2B5EF4-FFF2-40B4-BE49-F238E27FC236}">
                <a16:creationId xmlns:a16="http://schemas.microsoft.com/office/drawing/2014/main" id="{326E7C15-C6F9-4207-65B0-2C07B2FCB62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23466" y="1672216"/>
            <a:ext cx="914506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0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Content Placeholder 34" descr="A close-up of a gas pump&#10;&#10;AI-generated content may be incorrect.">
            <a:extLst>
              <a:ext uri="{FF2B5EF4-FFF2-40B4-BE49-F238E27FC236}">
                <a16:creationId xmlns:a16="http://schemas.microsoft.com/office/drawing/2014/main" id="{9743FA87-0DD5-601B-264B-14C3161C1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4" r="4227" b="17357"/>
          <a:stretch>
            <a:fillRect/>
          </a:stretch>
        </p:blipFill>
        <p:spPr>
          <a:xfrm>
            <a:off x="523795" y="2277284"/>
            <a:ext cx="8583260" cy="2949762"/>
          </a:xfrm>
        </p:spPr>
      </p:pic>
      <p:pic>
        <p:nvPicPr>
          <p:cNvPr id="4" name="Picture 3" descr="A black bottle with a white label&#10;&#10;AI-generated content may be incorrect.">
            <a:extLst>
              <a:ext uri="{FF2B5EF4-FFF2-40B4-BE49-F238E27FC236}">
                <a16:creationId xmlns:a16="http://schemas.microsoft.com/office/drawing/2014/main" id="{856A5063-5021-BE24-C3D4-944AA9208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0" r="12149"/>
          <a:stretch>
            <a:fillRect/>
          </a:stretch>
        </p:blipFill>
        <p:spPr>
          <a:xfrm>
            <a:off x="10313075" y="1833212"/>
            <a:ext cx="1851843" cy="50138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807C1-B797-D412-7054-7E377F88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060"/>
            <a:ext cx="10515600" cy="1325563"/>
          </a:xfrm>
        </p:spPr>
        <p:txBody>
          <a:bodyPr/>
          <a:lstStyle/>
          <a:p>
            <a:r>
              <a:rPr lang="en-US" dirty="0"/>
              <a:t>Pneumatic Sub-assembly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F4388-84BF-AD06-20EA-88D14E8F2497}"/>
              </a:ext>
            </a:extLst>
          </p:cNvPr>
          <p:cNvSpPr txBox="1"/>
          <p:nvPr/>
        </p:nvSpPr>
        <p:spPr>
          <a:xfrm>
            <a:off x="6635030" y="5335960"/>
            <a:ext cx="13156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Air cylinder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F9B43F-C35F-B01D-CFB6-71DE95E22E7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7292832" y="4689629"/>
            <a:ext cx="11834" cy="646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297AF9-1BE7-E7AF-BAE4-D16047AD1975}"/>
              </a:ext>
            </a:extLst>
          </p:cNvPr>
          <p:cNvSpPr txBox="1"/>
          <p:nvPr/>
        </p:nvSpPr>
        <p:spPr>
          <a:xfrm>
            <a:off x="6160652" y="1630953"/>
            <a:ext cx="207818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Pneumatic Valve with Button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76B9DC-CB2E-52EC-6605-D7F7297027E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99743" y="2277284"/>
            <a:ext cx="8894" cy="940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DC9978-8087-0E36-3114-F7D5955E410A}"/>
              </a:ext>
            </a:extLst>
          </p:cNvPr>
          <p:cNvSpPr txBox="1"/>
          <p:nvPr/>
        </p:nvSpPr>
        <p:spPr>
          <a:xfrm>
            <a:off x="8070159" y="5278967"/>
            <a:ext cx="150220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Quick disconnect external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4E1E7B-4356-6959-E590-A63B90C9AEE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821262" y="5012794"/>
            <a:ext cx="0" cy="2661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D936369-452D-08A2-2991-E9C3CCD26880}"/>
              </a:ext>
            </a:extLst>
          </p:cNvPr>
          <p:cNvSpPr txBox="1"/>
          <p:nvPr/>
        </p:nvSpPr>
        <p:spPr>
          <a:xfrm>
            <a:off x="3813495" y="1630953"/>
            <a:ext cx="23913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Male Luer lock x 1/4-28 male UNF adapter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40FDCE-FB5C-E965-5A32-CB0599CAF14C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009169" y="2277284"/>
            <a:ext cx="0" cy="9040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AD7561-5556-FF47-51AB-BD8130C64E89}"/>
              </a:ext>
            </a:extLst>
          </p:cNvPr>
          <p:cNvSpPr txBox="1"/>
          <p:nvPr/>
        </p:nvSpPr>
        <p:spPr>
          <a:xfrm>
            <a:off x="2410723" y="1630953"/>
            <a:ext cx="14027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tubing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9DD3423-080B-2954-2AD3-A0EFBDCA9A4C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3112109" y="2277284"/>
            <a:ext cx="0" cy="605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2770B07-B48B-225B-AB0C-11BDA9C1F9C4}"/>
              </a:ext>
            </a:extLst>
          </p:cNvPr>
          <p:cNvSpPr txBox="1"/>
          <p:nvPr/>
        </p:nvSpPr>
        <p:spPr>
          <a:xfrm>
            <a:off x="4124156" y="5335960"/>
            <a:ext cx="23913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Aluminum syringe barrel and plunger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2DD434-2A87-B407-32BB-876F0F0DA1CD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319830" y="3543300"/>
            <a:ext cx="0" cy="1792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33E2333-863D-45A2-3E6C-04F5D28D9C4E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319830" y="3886200"/>
            <a:ext cx="654797" cy="1449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B9D6D81-AAAA-491B-1CC4-7A4B1FAB9B5C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8952005" y="4975850"/>
            <a:ext cx="426903" cy="0"/>
          </a:xfrm>
          <a:prstGeom prst="straightConnector1">
            <a:avLst/>
          </a:prstGeom>
          <a:ln w="95250">
            <a:solidFill>
              <a:schemeClr val="accent6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BCECEA6-88D4-408C-FA71-07DAC818E3BA}"/>
              </a:ext>
            </a:extLst>
          </p:cNvPr>
          <p:cNvSpPr txBox="1"/>
          <p:nvPr/>
        </p:nvSpPr>
        <p:spPr>
          <a:xfrm>
            <a:off x="9378908" y="4375685"/>
            <a:ext cx="106092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Air inflow from canister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BBF299-5BEA-EA51-1C33-3E18200A21EB}"/>
              </a:ext>
            </a:extLst>
          </p:cNvPr>
          <p:cNvSpPr txBox="1"/>
          <p:nvPr/>
        </p:nvSpPr>
        <p:spPr>
          <a:xfrm>
            <a:off x="0" y="2943125"/>
            <a:ext cx="111137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ECE outflow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72FCF-2159-C998-BCE6-11C31E43D568}"/>
              </a:ext>
            </a:extLst>
          </p:cNvPr>
          <p:cNvSpPr txBox="1"/>
          <p:nvPr/>
        </p:nvSpPr>
        <p:spPr>
          <a:xfrm>
            <a:off x="10816912" y="3496265"/>
            <a:ext cx="138367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Quick disconnect internal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EB4A5E-A7C6-076F-5B3B-277236FA0DBE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1508748" y="2571536"/>
            <a:ext cx="221434" cy="9247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378B082-1651-B74A-F4C1-6CBD7CA0FF7D}"/>
              </a:ext>
            </a:extLst>
          </p:cNvPr>
          <p:cNvSpPr txBox="1"/>
          <p:nvPr/>
        </p:nvSpPr>
        <p:spPr>
          <a:xfrm>
            <a:off x="11046692" y="1186881"/>
            <a:ext cx="11354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Shrader valve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CB7FBC-FEF9-104F-5732-432C24E3C0EF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11490276" y="1833212"/>
            <a:ext cx="124126" cy="3188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A2E338E-0E03-C586-C24B-4223794D6F8B}"/>
              </a:ext>
            </a:extLst>
          </p:cNvPr>
          <p:cNvCxnSpPr>
            <a:cxnSpLocks/>
          </p:cNvCxnSpPr>
          <p:nvPr/>
        </p:nvCxnSpPr>
        <p:spPr>
          <a:xfrm flipH="1">
            <a:off x="0" y="2771787"/>
            <a:ext cx="523794" cy="0"/>
          </a:xfrm>
          <a:prstGeom prst="straightConnector1">
            <a:avLst/>
          </a:prstGeom>
          <a:ln w="95250">
            <a:solidFill>
              <a:schemeClr val="accent6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73C9B76-7DCD-0DA7-70D3-885135800916}"/>
              </a:ext>
            </a:extLst>
          </p:cNvPr>
          <p:cNvSpPr txBox="1"/>
          <p:nvPr/>
        </p:nvSpPr>
        <p:spPr>
          <a:xfrm>
            <a:off x="1345791" y="1630953"/>
            <a:ext cx="126168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ECE splitter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DB54C3D-FE8D-2F2C-B1D0-2DA8982E961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1976633" y="2277284"/>
            <a:ext cx="0" cy="3357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26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202</Words>
  <Application>Microsoft Office PowerPoint</Application>
  <PresentationFormat>Widescreen</PresentationFormat>
  <Paragraphs>50</Paragraphs>
  <Slides>9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Auto-injector</vt:lpstr>
      <vt:lpstr>Introduction</vt:lpstr>
      <vt:lpstr>Auto-injector Prototype</vt:lpstr>
      <vt:lpstr>Auto-injector Prototype</vt:lpstr>
      <vt:lpstr>Exploded Assembly Animation</vt:lpstr>
      <vt:lpstr>Triple-needle Sub-assembly</vt:lpstr>
      <vt:lpstr>Retraction Sub-assembly and Motion</vt:lpstr>
      <vt:lpstr>Spring-driven Retraction</vt:lpstr>
      <vt:lpstr>Pneumatic Sub-assembly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Chen</dc:creator>
  <cp:lastModifiedBy>Jason Chen</cp:lastModifiedBy>
  <cp:revision>3</cp:revision>
  <dcterms:created xsi:type="dcterms:W3CDTF">2025-05-31T00:57:54Z</dcterms:created>
  <dcterms:modified xsi:type="dcterms:W3CDTF">2025-06-05T17:59:03Z</dcterms:modified>
</cp:coreProperties>
</file>